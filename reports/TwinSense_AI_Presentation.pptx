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PROJECT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ACADEMIC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1. TwinSense AI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Predictive Healthcare Digital Twin Prototype for Continuous Glycemic Risk Estimation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In-Silico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Core Digital Twin Concept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In-Silico Patient Avatar: Unifies static EHR baselines with high-frequency dynamic CGM telemetry.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45-Minute Horizon: Forward-looking risk classification (In-Range vs. Hyperglycemia).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Counterfactual Sandbox: Non-destructive 'What-If' lifestyle and activity simulation.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Explainable AI: Automated physiological risk factor attribution.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Local-First Privacy: 100% offline-capable, zero external cloud dependencies.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FF4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FF4385"/>
                </a:solidFill>
              </a:defRPr>
            </a:pPr>
            <a:r>
              <a:t>100% Synthetic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Mandatory Ethical &amp; Clinical Disclaimer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FOR RESEARCH &amp; DEMONSTRATION PURPOSES ONLY.</a:t>
            </a:r>
          </a:p>
          <a:p>
            <a:pPr>
              <a:spcAft>
                <a:spcPts val="800"/>
              </a:spcAft>
              <a:defRPr sz="950" b="1">
                <a:solidFill>
                  <a:srgbClr val="FF4385"/>
                </a:solidFill>
              </a:defRPr>
            </a:pPr>
            <a:r>
              <a:t>• 100% Synthetic Data: All profiles and CGM time-series are algorithmically generated.</a:t>
            </a:r>
          </a:p>
          <a:p>
            <a:pPr>
              <a:spcAft>
                <a:spcPts val="800"/>
              </a:spcAft>
              <a:defRPr sz="950" b="1">
                <a:solidFill>
                  <a:srgbClr val="FF4385"/>
                </a:solidFill>
              </a:defRPr>
            </a:pPr>
            <a:r>
              <a:t>• Not Clinically Validated: Not evaluated in clinical trials; NOT approved by FDA/CE/CDSCO.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Zero Medical Claims: Must NEVER be used for diagnostic or insulin dosage decisions.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Unsupported Hypoglycemia: Model does not detect or predict hypoglycemia (Class 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Healthcare Digital Twin Prototype | Team &amp; Institution Submission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CLINICAL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2. Problem Statement &amp; Clinical Motivation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The challenge of glycemic volatility and the limitations of current CGM alert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Clinical Urgency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Glycemic Volatility in Diabetes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Dynamic Instability: Individuals with Type 1 &amp; Type 2 diabetes suffer rapid glycemic excursions.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Acute Risks: Hyperglycemic crises (ketoacidosis, hyperosmolar state) vs. acute hypoglycemic shock.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Multi-Factorial Drivers: Volatility is driven by delayed meal absorption, physical exertion, and circadian shifts.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Action Delay: Corrective lifestyle or dietary actions are often taken too late after symptoms arise.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FF4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FF4385"/>
                </a:solidFill>
              </a:defRPr>
            </a:pPr>
            <a:r>
              <a:t>Point-in-Time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Standard CGM System Limitations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Point-in-Time Readings: Existing CGMs report current sensor values and basic trend arrows, not 45m forward risk.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No Behavioral Sandbox: Patients cannot safely test 'what if I walk 1,000 steps?' in advance.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Black-Box Alerts: Standard threshold alarms lack explainable contributing physiological factors.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Need for In-Silico Testing: A software digital twin provides an exploratory space without biological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Problem Statement | Addressing Glycemic Latency via Predictive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SOLUTION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3. Proposed Solution: TwinSense AI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Coupling physiological EHR baselines with wearable telemetry for predictive risk estimation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TwinEngine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The Digital Twin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In-Memory Representation: Combines patient EHR profiles (age, BMI, HbA1c) with real-time CGM telemetry.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45-Minute Forward Inference: Classifies future glycemic excursion risk into defined clinical categories.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Contributing Factors Panel: Breaks down risk into 15m rate of change, rolling means, and meal events.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Strict Temporal Boundaries: Validates chronological ordering and enforces a minimum 30-minute sensor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Four Pillars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Core Capabilities Implemented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1. 45-Min Forward Risk Classification: Balanced Random Forest trained with a 45m temporal embargo.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2. What-If Counterfactual Sandbox: Ephemeral in-memory clone evaluating hypothetical activity shifts.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3. Independent Rule-Based Low Glucose Alert: Immediate trigger when measured reading is strictly &lt; 70 mg/dL.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4. Downloadable Audit Reports: Clinical summary PDF and tabular CSV generated directly via ReportLab.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Proposed Solution | Predictive Digital Twin &amp; Counterfactual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APPLICATION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4. Healthcare Use Case &amp; Target Setting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Decision support, behavioral exploration, and clinical research prototyping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T1D &amp; T2D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Target Patient Population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Type 1 &amp; Type 2 Diabetes: Focus on individuals utilizing continuous glucose monitoring devices.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Clinical Diversity: Evaluated across diverse synthetic profiles (ages 28–64, BMI 22.4–34.2, HbA1c 6.7%–10.0%).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High-Frequency Telemetry: CGM sampled at 5-minute continuous intervals alongside heart rate and step counts.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Safe Research Testbed: Provides an academic benchmark for physiological modeling and digital twins.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10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D6A0"/>
                </a:solidFill>
              </a:defRPr>
            </a:pPr>
            <a:r>
              <a:t>Proactive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Clinical &amp; Behavioral Value Drivers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Proactive Lead Time: 45-minute forward window allows early hydration, resting, or light activity.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Safe Lifestyle Experimentation: Users evaluate hypothetical step increments without physical danger.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Explainable Consultations: PDF clinical reports summarize risk probability distributions for physician reviews.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Pure Non-Clinical Guardrails: Never provides insulin dosing; mandates physician consultation.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Healthcare Use Case | Safe Decision Support &amp; Exploratory Sandboxes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SYSTEM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TWO-PHASE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5. End-to-End System Architecture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Decoupled batch training pipeline and low-latency local runtime microservice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Data &amp;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1: Offline Batch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Synthetic Generator: src/data_generator.py creates raw patient profiles and 20,160 CGM readings.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Feature Pipeline: src/feature_engineering.py computes past-only rolling metrics and drops lookahead leaks.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Model Training: src/train.py partitions data with a 45m embargo buffer and trains Random Forest.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Artifact Serialization: Persists models/random_forest_risk_model.joblib and feature_columns.json.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Local ASGI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Phase 2: Online Runtime Sandbox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Client Dashboard: Vanilla HTML5, CSS3, ES6 JS with pure native SVG telemetry charting (zero CDNs).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FastAPI Backend: Typed asynchronous REST API (port 8000) with Pydantic v2 schemas.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Local Relational DB: SQLite3 (data/twinsense.db) storing patients, telemetry, audit logs, and sessions.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Security: RFC 9106 Argon2id password hashing, HttpOnly session cookies, and CSRF protection.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System Architecture | Specification Document: reports/system_architecture_diagram.pdf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DATA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LEAK-FREE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6. Synthetic Dataset &amp; Feature Engineering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Deterministic simulation, past-only rolling features, and the 45-minute embargo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100% Synthetic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Deterministic Synthetic Generator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Multi-Patient Cohort: 10 clinically diverse synthetic patients (SYNTH_PAT_001 to 010).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Longitudinal Scope: 7 continuous simulated days at 5-minute sampling intervals (20,160 total rows).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Physiological Bound Validation: Strictly checked [40.0, 400.0] mg/dL, strictly monotonic timestamps.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Zero Real-Patient Data: Generated via mathematical circadian and postprandial clearance heuristics.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Embargo 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11-Dimensional Feature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Rolling Glucose Features: 15m and 30m rolling means, 15m rate of change (mg/dL per 15 min).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Dynamic Activity Telemetry: 30-minute accumulated step count, 30-minute mean heart rate.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Static EHR Phenotype: Age, BMI, baseline HbA1c, diabetes type (T1D/T2D), and diagnosis duration.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45-Min Embargo Protocol: Drops 9 consecutive samples at split boundaries to eliminate temporal leakage.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Processed Dataset: 20,020 leak-free feature-target pairs in data/processed/training_dataset.csv.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Data Pipeline | Rigorous Chronological Splitting with Embargo Buffers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45-MIN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7. Random Forest Model &amp; 45-Minute Prediction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Balanced multi-class ensemble modeling evaluated against an unlearned majority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Model Architecture &amp;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Algorithm: Balanced RandomForestClassifier (n_estimators=100, max_depth=8, class_weight='balanced').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Chronological Partitioning: First 80% of patient timelines for training, final 20% for untouched testing.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Benchmark Comparison: Benchmarked against an unlearned DummyClassifier(strategy='most_frequent').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Feature Schema Enforcement: Strict 11-feature ordered contract guaranteed via feature_columns.json.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3 Target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Clinical Risk Class Definitions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FF4385"/>
                </a:solidFill>
              </a:defRPr>
            </a:pPr>
            <a:r>
              <a:t>• Class 1: Hypoglycemia (&lt; 70 mg/dL) — CRITICAL LIMITATION: 0 samples in synthetic data.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Class 2: In-Range / Normal Glycemia (70 – 180 mg/dL) — 1,756 test samples.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Class 3: Hyperglycemia (&gt; 180 mg/dL) — 2,164 test samples.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Prediction Output: Calibrated categorical probabilities, forward target timestamp (+45m), and factors.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Model Architecture | Chronological Evaluation with Scikit-Learn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BENCHMARK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HONEST 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8. Actual Evaluation Results &amp; Limitations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Documented benchmark performance and transparent disclosure of the hypoglycemia limitation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10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D6A0"/>
                </a:solidFill>
              </a:defRPr>
            </a:pPr>
            <a:r>
              <a:t>89.29%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Held-Out Test Set Performance (N=3,920)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10D6A0"/>
                </a:solidFill>
              </a:defRPr>
            </a:pPr>
            <a:r>
              <a:t>• Overall Accuracy: 89.29% (vs. Majority Baseline: 55.20%, +34.08% improvement).</a:t>
            </a:r>
          </a:p>
          <a:p>
            <a:pPr>
              <a:spcAft>
                <a:spcPts val="800"/>
              </a:spcAft>
              <a:defRPr sz="950" b="1">
                <a:solidFill>
                  <a:srgbClr val="10D6A0"/>
                </a:solidFill>
              </a:defRPr>
            </a:pPr>
            <a:r>
              <a:t>• Macro F1-Score (Active Classes): 0.8917 (vs. Majority Baseline: 0.3557, +0.5360 improvement).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Class 2 (In-Range): Precision 88.00%, Recall 88.10%, F1-Score 0.8805 (1,547 correct / 1,756).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Class 3 (Hyperglycemia): Precision 90.33%, Recall 90.25%, F1-Score 0.9029 (1,953 correct / 2,164).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Validated on untouched chronological holdout data with a 45-minute embargo buffer.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FF4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FF4385"/>
                </a:solidFill>
              </a:defRPr>
            </a:pPr>
            <a:r>
              <a:t>Zero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The Hypoglycemia (Class 1) 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Zero Class 1 Samples: Because synthetic data had elevated baselines, 0 hypoglycemia events were simulated.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Unsupported Model Scope: The model CANNOT detect, predict, or rule out hypoglycemia.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Honest UI Policy: Class 1 probability is explicitly displayed as 'Not supported' (NEVER '0%').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Warning Banner: 'Hypoglycemia prediction is not supported by the current model' in all reports &amp; panels.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Pure Synthetic Data: Metrics reflect synthetic simulation and DO NOT imply clinical efficacy.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Evaluation &amp; Limitations | Reference: reports/evaluation_report.md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FRONTEND &amp;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9. Dashboard Interface &amp; Implemented Features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Native web client, real-time SVG charting, and full audit trail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Zero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Interactive Client Capabilities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Patient Phenotype Selector: Switch between 10 synthetic patients; profiles update dynamically.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Native SVG CGM Chart: Mathematical coordinate renderer with color-coded target zones (zero chart.js).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45-Min Forward Forecast Panel: Visual risk badges, probability distributions, and clinical factors.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What-If Counterfactual Controls: Interactive sliders for Delta Glucose and Delta Activity.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Low-Glucose Safety Alert: Prominent banner fires immediately if measured glucose is &lt; 70 mg/dL.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Enterprise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Backend Services &amp; 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Argon2id Security: Session-based login/registration with secure HttpOnly cookies and CSRF tokens.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Downloadable PDF Report: Professional clinical summary PDF generated via ReportLab.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Downloadable CSV Report: Full tabular audit export containing timestamps, features, and probabilities.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Historical Predictions API: SQLite audit trail tracking every prediction run for traceability.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Live Web App: Accessible locally at http://127.0.0.1:8000/ with interactive Swagger docs at /docs.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Dashboard &amp; UX | 100% Self-Contained Native Web Client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SAFETY &amp;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10. Safety Alerts &amp; What-If Simulation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Rule-based emergency protection and non-destructive counterfactual exploration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FF4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FF4385"/>
                </a:solidFill>
              </a:defRPr>
            </a:pPr>
            <a:r>
              <a:t>Strictly Rule-Based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Independent Low-Glucose Safety Alert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Trigger: Fires strictly when measured observed glucose reading is &lt; 70 mg/dL.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Independent of ML: Activates immediately upon patient selection without running a model forecast.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Measured Readings Only: Hypothetical what-if slider values NEVER trigger this alert.</a:t>
            </a:r>
          </a:p>
          <a:p>
            <a:pPr>
              <a:spcAft>
                <a:spcPts val="800"/>
              </a:spcAft>
              <a:defRPr sz="950" b="1">
                <a:solidFill>
                  <a:srgbClr val="FF4385"/>
                </a:solidFill>
              </a:defRPr>
            </a:pPr>
            <a:r>
              <a:t>• Strict Safety Wording: Advises immediate medical help if symptoms occur; ZERO dosing terms.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Reset on Patient Switch: Automatically updates or clears when switching patient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In-Memory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What-If Counterfactual Sandbox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Ephemeral Telemetry Clones: Modifies an in-memory clone without mutating database or CSVs.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Evaluates Dual Perturbations: Delta Glucose (-50 to +50 mg/dL) and Delta Steps (0 to +1,500).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Side-by-Side Comparison: Visualizes observed baseline vs. simulated hypothetical forward risk.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Clear Simulation Labeling: Hypothetical values carry a prominent '(Simulated)' badge.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Zero Reassurance: Maintains all disclaimers and displays Class 1 as 'Not supported'.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Safety &amp; What-If | Decoupled Rule Alerts &amp; Non-Destructive In-Memory Clones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ENGINEERING RIGOR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123 TESTS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11. Technology Stack &amp; Verification Suite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Production-grade Python ecosystem validated by 123 automated test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Modern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Core Technical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Backend &amp; API: FastAPI &gt;=0.110.0, Uvicorn &gt;=0.28.0, Pydantic v2 &gt;=2.6.0.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Machine Learning: Scikit-Learn &gt;=1.4.0, Pandas &gt;=2.2.0, NumPy &gt;=1.26.0, Joblib &gt;=1.3.0.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Security &amp; DB: Argon2-cffi &gt;=25.1.0, Python Built-in SQLite3, CSRF Protection.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Reporting: ReportLab &gt;=4.0.0 (Clinical PDF Synthesis), pypdf &gt;=5.0.0.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Frontend: Semantic HTML5, CSS3 Variables, ES6 JavaScript, Pure Native SVG.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10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D6A0"/>
                </a:solidFill>
              </a:defRPr>
            </a:pPr>
            <a:r>
              <a:t>100% 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Verification &amp; Quality Assurance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Pytest Suite: 123 automated test cases covering API, TwinEngine, Auth, Safety, and Reports.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Immutability Checks: Tests confirm what-if simulations leave underlying state unaltered.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Embargo Verification: Asserts zero temporal target leakage across chronological splits.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Safety Unit Tests: Asserts boundary alerts (69.9 vs 70.0 mg/dL) and absence of dosing terms.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Cryptographic Integrity: SHA-256 hashes of datasets and models validated bit-for-bit unchanged.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Quality Assurance | 123 Passed Tests in ~10.6s | Verified Cryptographic Hashes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17"/>
          </a:solidFill>
          <a:ln>
            <a:solidFill>
              <a:srgbClr val="09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100584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38912"/>
            <a:ext cx="1645920" cy="256032"/>
          </a:xfrm>
          <a:prstGeom prst="roundRect">
            <a:avLst/>
          </a:prstGeom>
          <a:solidFill>
            <a:srgbClr val="1E143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SUMMARY &amp; FUTURE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38912"/>
            <a:ext cx="1737360" cy="256032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t>12. Conclusion &amp; Future Research Roadmap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Key contributions of the TwinSense AI prototype and next engineering frontiers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Validated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Project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Proof-of-Concept Digital Twin: Proved feasibility of coupling EHR baselines with CGM telemetry.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Leak-Free Machine Learning: Demonstrated rigorous 45-minute embargo buffer implementation.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Exploratory Sandbox: Delivered interactive, non-destructive counterfactual what-if simulation.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Safety by Design: Built decoupled rule-based low-glucose alerts and transparent limitation notices.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Enterprise Local Architecture: Implemented full Argon2id authentication and ReportLab PDF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68112" cy="4572000"/>
          </a:xfrm>
          <a:prstGeom prst="roundRect">
            <a:avLst/>
          </a:prstGeom>
          <a:solidFill>
            <a:srgbClr val="17112B"/>
          </a:solidFill>
          <a:ln w="15240"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2011680" cy="292608"/>
          </a:xfrm>
          <a:prstGeom prst="roundRect">
            <a:avLst/>
          </a:prstGeom>
          <a:solidFill>
            <a:srgbClr val="120E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Future Research Horizons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14600"/>
            <a:ext cx="4919472" cy="13716"/>
          </a:xfrm>
          <a:prstGeom prst="rect">
            <a:avLst/>
          </a:prstGeom>
          <a:solidFill>
            <a:srgbClr val="2E2452"/>
          </a:solidFill>
          <a:ln>
            <a:solidFill>
              <a:srgbClr val="2E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1. Hypoglycemia Simulation: Model missed meals, insulin stacking, and strenuous exercise.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2. Open Simulators: Integrate with established UVA/Padova simulators (e.g., simglucose).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3. Real Clinical Benchmarking: Validate against de-identified clinical datasets (OhioT1DM / Tidepool).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4. Deep Recurrent Architectures: Experiment with Temporal Fusion Transformers (TFT) and LSTMs.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5. Pharmacokinetic Modeling: Incorporate active insulin-on-board (IOB) clearance equations.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TwinSense AI — Developed for Academic Innovation &amp; Healthcare Engineering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